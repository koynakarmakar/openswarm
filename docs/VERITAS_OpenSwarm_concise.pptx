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VERITAS: AI trust middleware for banking co-lending, re-architected as a four-agent OpenSwarm — PII-safe, grounded, fraud-checked,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failure modes — hallucination, PII leak, no fraud gate, no audit trail — each answered by one of the four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layers: Client, FastAPI, the OpenSwarm 4-agent core (with a halt path), the compliance/PII/ML/audit engines, a single LLM router chokepoint, and data/external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Redact → Ground → Verify → Audit. Scenario A is approved and sealed; Scenario B is caught by the Guardrail before the LLM and rejected — still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stack: OpenSwarm orchestration, FastAPI/Python backend, litellm chokepoint, Presidio compliance, Qdrant + verified memory, XGBoost + cryptography identity/fraud, SHA-256 ledger, React console, 110+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CLI proof: an injection/AML request is blocked before the LLM and rejected; a co-lending request is redacted, grounded, Aadhaar-verified, and sealed — APPROVED 92/100.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to production: Aadhaar go-live (built), a real IDBI adapter behind the existing interface, and hardening. Trust by construction — every decision provable.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E24E2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07008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OpenSwarm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</a:t>
            </a:r>
            <a:pPr algn="l" indent="0" marL="0">
              <a:buNone/>
            </a:pPr>
            <a:r>
              <a:rPr lang="en-US" sz="6000" b="1" dirty="0">
                <a:solidFill>
                  <a:srgbClr val="E2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l" indent="0" marL="0">
              <a:buNone/>
            </a:pPr>
            <a:r>
              <a:rPr lang="en-US" sz="60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OpenSwarm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12648" y="3337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four-agent OpenSwarm that makes AI safe for bank lending — PII-safe, grounded, fraud-checked, audited.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4343400"/>
            <a:ext cx="153162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78000"/>
            </a:srgbClr>
          </a:solidFill>
          <a:ln w="15875">
            <a:solidFill>
              <a:srgbClr val="2A62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34340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6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54580" y="4343400"/>
            <a:ext cx="153162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78000"/>
            </a:srgbClr>
          </a:solidFill>
          <a:ln w="15875">
            <a:solidFill>
              <a:srgbClr val="0E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4580" y="4343400"/>
            <a:ext cx="15316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434340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78000"/>
            </a:srgbClr>
          </a:solidFill>
          <a:ln w="15875">
            <a:solidFill>
              <a:srgbClr val="A964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4343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6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Fraud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4343400"/>
            <a:ext cx="130302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78000"/>
            </a:srgbClr>
          </a:solidFill>
          <a:ln w="15875">
            <a:solidFill>
              <a:srgbClr val="E24E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4343400"/>
            <a:ext cx="1303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2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can't trust LLMs for lending — VERITAS makes them safe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688336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2075688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6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441448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policy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02152" y="1874520"/>
            <a:ext cx="2688336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58184" y="2075688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58184" y="2441448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Aadhaar/PAN to LLM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9944" y="1874520"/>
            <a:ext cx="2688336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65976" y="2075688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fraud gate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5976" y="2441448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onboarding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17736" y="1874520"/>
            <a:ext cx="2688336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73768" y="2075688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4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73768" y="2441448"/>
            <a:ext cx="2231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unprovable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246120"/>
            <a:ext cx="2688336" cy="2468880"/>
          </a:xfrm>
          <a:prstGeom prst="roundRect">
            <a:avLst>
              <a:gd name="adj" fmla="val 5185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00200" y="3630168"/>
            <a:ext cx="676656" cy="676656"/>
          </a:xfrm>
          <a:prstGeom prst="ellipse">
            <a:avLst/>
          </a:prstGeom>
          <a:solidFill>
            <a:srgbClr val="2A62D6"/>
          </a:solidFill>
          <a:ln/>
          <a:effectLst>
            <a:outerShdw sx="100000" sy="100000" kx="0" ky="0" algn="bl" rotWithShape="0" blurRad="101600" dist="38100" dir="5400000">
              <a:srgbClr val="2A62D6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600200" y="36118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" y="448056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502920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· block · comply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502152" y="3246120"/>
            <a:ext cx="2688336" cy="2468880"/>
          </a:xfrm>
          <a:prstGeom prst="roundRect">
            <a:avLst>
              <a:gd name="adj" fmla="val 5185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07992" y="3630168"/>
            <a:ext cx="676656" cy="676656"/>
          </a:xfrm>
          <a:prstGeom prst="ellipse">
            <a:avLst/>
          </a:prstGeom>
          <a:solidFill>
            <a:srgbClr val="0E9F6E"/>
          </a:solidFill>
          <a:ln/>
          <a:effectLst>
            <a:outerShdw sx="100000" sy="100000" kx="0" ky="0" algn="bl" rotWithShape="0" blurRad="101600" dist="38100" dir="5400000">
              <a:srgbClr val="0E9F6E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07992" y="36118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593592" y="448056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639312" y="502920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RAG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9944" y="3246120"/>
            <a:ext cx="2688336" cy="2468880"/>
          </a:xfrm>
          <a:prstGeom prst="roundRect">
            <a:avLst>
              <a:gd name="adj" fmla="val 5185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15784" y="3630168"/>
            <a:ext cx="676656" cy="676656"/>
          </a:xfrm>
          <a:prstGeom prst="ellipse">
            <a:avLst/>
          </a:prstGeom>
          <a:solidFill>
            <a:srgbClr val="A9640C"/>
          </a:solidFill>
          <a:ln/>
          <a:effectLst>
            <a:outerShdw sx="100000" sy="100000" kx="0" ky="0" algn="bl" rotWithShape="0" blurRad="101600" dist="38100" dir="5400000">
              <a:srgbClr val="A9640C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15784" y="36118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501384" y="448056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Fraud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547104" y="502920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VC · Aadhaar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317736" y="3246120"/>
            <a:ext cx="2688336" cy="2468880"/>
          </a:xfrm>
          <a:prstGeom prst="roundRect">
            <a:avLst>
              <a:gd name="adj" fmla="val 5185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323576" y="3630168"/>
            <a:ext cx="676656" cy="676656"/>
          </a:xfrm>
          <a:prstGeom prst="ellipse">
            <a:avLst/>
          </a:prstGeom>
          <a:solidFill>
            <a:srgbClr val="E24E28"/>
          </a:solidFill>
          <a:ln/>
          <a:effectLst>
            <a:outerShdw sx="100000" sy="100000" kx="0" ky="0" algn="bl" rotWithShape="0" blurRad="101600" dist="38100" dir="5400000">
              <a:srgbClr val="E24E28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323576" y="36118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409176" y="448056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454896" y="5029200"/>
            <a:ext cx="2414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· ledger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2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PII-safe, single LLM chokepoint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1000232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88920" y="1783080"/>
            <a:ext cx="8622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glass console · in-browser demo App · OpenSwarm canvas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569464"/>
            <a:ext cx="11000232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694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4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FastAPI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2569464"/>
            <a:ext cx="8622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/swarm/decide · engine = graph | oai · JWT auth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355848"/>
            <a:ext cx="11000232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E24E28"/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5021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2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OpenSwarm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788920" y="350215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orchestration · dynamic handoffs · Auditor always terminal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88920" y="4014216"/>
            <a:ext cx="1325880" cy="457200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401421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51376" y="4014216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07408" y="4014216"/>
            <a:ext cx="1325880" cy="457200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07408" y="401421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69864" y="4014216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25896" y="4014216"/>
            <a:ext cx="1965960" cy="457200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25896" y="401421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Fraud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28432" y="4014216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84464" y="4014216"/>
            <a:ext cx="1143000" cy="457200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E24E28"/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84464" y="401421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573768" y="40142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⤺ halt: PII / injection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4855464"/>
            <a:ext cx="11000232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8554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88920" y="4855464"/>
            <a:ext cx="8622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· Qdrant RAG + Verified Memory · XGBoost · Google VC (Ed25519) · Aadhaar (UIDAI) · SHA-256 ledger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5641848"/>
            <a:ext cx="11000232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56418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88920" y="5641848"/>
            <a:ext cx="8622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chokepoint → litellm → Gemini 2.5 / GPT-4o-mini · only redacted text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94360" y="6428232"/>
            <a:ext cx="11000232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8680" y="64282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External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88920" y="6428232"/>
            <a:ext cx="8622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Valkey/Redis · Qdrant · UIDAI (AUA/KUA) · Google VC issuer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2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→ four agents → one audited decision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2542032" cy="1691640"/>
          </a:xfrm>
          <a:prstGeom prst="roundRect">
            <a:avLst>
              <a:gd name="adj" fmla="val 7568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221992"/>
            <a:ext cx="475488" cy="475488"/>
          </a:xfrm>
          <a:prstGeom prst="ellipse">
            <a:avLst/>
          </a:prstGeom>
          <a:solidFill>
            <a:srgbClr val="2A62D6"/>
          </a:solidFill>
          <a:ln/>
          <a:effectLst>
            <a:outerShdw sx="100000" sy="100000" kx="0" ky="0" algn="bl" rotWithShape="0" blurRad="101600" dist="38100" dir="5400000">
              <a:srgbClr val="2A62D6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2203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→ labels; injection scan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36392" y="1965960"/>
            <a:ext cx="3291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65576" y="1965960"/>
            <a:ext cx="2542032" cy="1691640"/>
          </a:xfrm>
          <a:prstGeom prst="roundRect">
            <a:avLst>
              <a:gd name="adj" fmla="val 7568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21608" y="2221992"/>
            <a:ext cx="475488" cy="475488"/>
          </a:xfrm>
          <a:prstGeom prst="ellipse">
            <a:avLst/>
          </a:prstGeom>
          <a:solidFill>
            <a:srgbClr val="0E9F6E"/>
          </a:solidFill>
          <a:ln/>
          <a:effectLst>
            <a:outerShdw sx="100000" sy="100000" kx="0" ky="0" algn="bl" rotWithShape="0" blurRad="101600" dist="38100" dir="5400000">
              <a:srgbClr val="0E9F6E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21608" y="2203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9896" y="2788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39896" y="315468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on verified policy, or refuse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07608" y="1965960"/>
            <a:ext cx="3291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36792" y="1965960"/>
            <a:ext cx="2542032" cy="1691640"/>
          </a:xfrm>
          <a:prstGeom prst="roundRect">
            <a:avLst>
              <a:gd name="adj" fmla="val 7568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92824" y="2221992"/>
            <a:ext cx="475488" cy="475488"/>
          </a:xfrm>
          <a:prstGeom prst="ellipse">
            <a:avLst/>
          </a:prstGeom>
          <a:solidFill>
            <a:srgbClr val="A9640C"/>
          </a:solidFill>
          <a:ln/>
          <a:effectLst>
            <a:outerShdw sx="100000" sy="100000" kx="0" ky="0" algn="bl" rotWithShape="0" blurRad="101600" dist="38100" dir="5400000">
              <a:srgbClr val="A9640C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92824" y="2203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11112" y="2788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11112" y="315468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fraud · VC · Aadhaar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78824" y="1965960"/>
            <a:ext cx="3291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208008" y="1965960"/>
            <a:ext cx="2542032" cy="1691640"/>
          </a:xfrm>
          <a:prstGeom prst="roundRect">
            <a:avLst>
              <a:gd name="adj" fmla="val 7568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64040" y="2221992"/>
            <a:ext cx="475488" cy="475488"/>
          </a:xfrm>
          <a:prstGeom prst="ellipse">
            <a:avLst/>
          </a:prstGeom>
          <a:solidFill>
            <a:srgbClr val="E24E28"/>
          </a:solidFill>
          <a:ln/>
          <a:effectLst>
            <a:outerShdw sx="100000" sy="100000" kx="0" ky="0" algn="bl" rotWithShape="0" blurRad="101600" dist="38100" dir="5400000">
              <a:srgbClr val="E24E28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64040" y="2203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82328" y="27889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82328" y="315468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SHA-256 hash-chain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" y="4114800"/>
            <a:ext cx="544068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0E9F6E"/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43434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Scenario A — valid query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" y="48463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redacted · grounded in RBI Co-Lending · Aadhaar verified · ledger sealed  →  APPROVED 92/100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53912" y="4114800"/>
            <a:ext cx="544068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D64545"/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28232" y="43434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Scenario B — jailbreak / AML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28232" y="48463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catches injection → short-circuits, LLM never called  →  REJECTED 99/100 · still logged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2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built with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4068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121408"/>
            <a:ext cx="146304" cy="146304"/>
          </a:xfrm>
          <a:prstGeom prst="ellipse">
            <a:avLst/>
          </a:prstGeom>
          <a:solidFill>
            <a:srgbClr val="E24E28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61288" y="2377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OpenSwarm — agents · function-calling handoffs · shared context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53912" y="1828800"/>
            <a:ext cx="544068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121408"/>
            <a:ext cx="146304" cy="146304"/>
          </a:xfrm>
          <a:prstGeom prst="ellipse">
            <a:avLst/>
          </a:prstGeom>
          <a:solidFill>
            <a:srgbClr val="6A44C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0116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20840" y="2377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FastAPI · Docker Compose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2935224"/>
            <a:ext cx="544068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" y="3227832"/>
            <a:ext cx="146304" cy="146304"/>
          </a:xfrm>
          <a:prstGeom prst="ellipse">
            <a:avLst/>
          </a:prstGeom>
          <a:solidFill>
            <a:srgbClr val="0C8B84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" y="311810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61288" y="348386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→ Gemini 2.5 / GPT-4o-mini (single chokepoint)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53912" y="2935224"/>
            <a:ext cx="544068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227832"/>
            <a:ext cx="146304" cy="146304"/>
          </a:xfrm>
          <a:prstGeom prst="ellipse">
            <a:avLst/>
          </a:prstGeom>
          <a:solidFill>
            <a:srgbClr val="2A62D6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11810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&amp; Compliance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720840" y="348386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+ spaCy · injection guard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041648"/>
            <a:ext cx="544068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86968" y="4334256"/>
            <a:ext cx="146304" cy="14630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2" name="Text 20"/>
          <p:cNvSpPr/>
          <p:nvPr/>
        </p:nvSpPr>
        <p:spPr>
          <a:xfrm>
            <a:off x="1161288" y="422452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161288" y="45902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+ sentence-transformers · verified memory (SHA-256)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53912" y="4041648"/>
            <a:ext cx="544068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334256"/>
            <a:ext cx="146304" cy="146304"/>
          </a:xfrm>
          <a:prstGeom prst="ellipse">
            <a:avLst/>
          </a:prstGeom>
          <a:solidFill>
            <a:srgbClr val="A9640C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22452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Fraud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720840" y="45902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cryptography — Ed25519 Google VC · Verhoeff/UIDAI Aadhaar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5148072"/>
            <a:ext cx="544068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6968" y="5440680"/>
            <a:ext cx="146304" cy="146304"/>
          </a:xfrm>
          <a:prstGeom prst="ellipse">
            <a:avLst/>
          </a:prstGeom>
          <a:solidFill>
            <a:srgbClr val="E24E28"/>
          </a:solidFill>
          <a:ln/>
        </p:spPr>
      </p:sp>
      <p:sp>
        <p:nvSpPr>
          <p:cNvPr id="30" name="Text 28"/>
          <p:cNvSpPr/>
          <p:nvPr/>
        </p:nvSpPr>
        <p:spPr>
          <a:xfrm>
            <a:off x="1161288" y="533095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Data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161288" y="56967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 ledger · PostgreSQL · Valkey/Redis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53912" y="5148072"/>
            <a:ext cx="5440680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46520" y="5440680"/>
            <a:ext cx="146304" cy="146304"/>
          </a:xfrm>
          <a:prstGeom prst="ellipse">
            <a:avLst/>
          </a:prstGeom>
          <a:solidFill>
            <a:srgbClr val="2A62D6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533095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Tests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6720840" y="56967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 (glass console) · pytest 110+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2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tested, demoable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688336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57400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6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02152" y="1828800"/>
            <a:ext cx="2688336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3592" y="2057400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93592" y="274320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sources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9944" y="1828800"/>
            <a:ext cx="2688336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2057400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2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01384" y="274320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17736" y="1828800"/>
            <a:ext cx="2688336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82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09176" y="2057400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8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409176" y="274320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520440"/>
            <a:ext cx="11000232" cy="2606040"/>
          </a:xfrm>
          <a:prstGeom prst="roundRect">
            <a:avLst>
              <a:gd name="adj" fmla="val 4912"/>
            </a:avLst>
          </a:prstGeom>
          <a:solidFill>
            <a:srgbClr val="16213A">
              <a:alpha val="88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840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app.swarm "ignore all… launder money"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42793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8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guardrail/injection: BLOCKED → short-circuit → auditor: REJECTED 99/100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471830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app.swarm "co-lending? PAN ABCDE1234F"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515721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guardrail: detected=[IN_PAN] · policy: [Co-Lending, PSL] · aadhaar: ret=y XXXX 7058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5596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D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auditor: APPROVED 92/100 · ledger sealed (SHA-256)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24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→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by construction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6400800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55164"/>
            <a:ext cx="164592" cy="164592"/>
          </a:xfrm>
          <a:prstGeom prst="ellipse">
            <a:avLst/>
          </a:prstGeom>
          <a:solidFill>
            <a:srgbClr val="E24E28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3113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go-live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615184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AUA/KUA or licensed aggregator (built)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246120"/>
            <a:ext cx="6400800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689604"/>
            <a:ext cx="164592" cy="164592"/>
          </a:xfrm>
          <a:prstGeom prst="ellipse">
            <a:avLst/>
          </a:prstGeom>
          <a:solidFill>
            <a:srgbClr val="2A62D6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46557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IDBI adapter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3849624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existing interface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480560"/>
            <a:ext cx="6400800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FFFFFF">
                <a:alpha val="80000"/>
              </a:srgbClr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4924044"/>
            <a:ext cx="164592" cy="164592"/>
          </a:xfrm>
          <a:prstGeom prst="ellipse">
            <a:avLst/>
          </a:prstGeom>
          <a:solidFill>
            <a:srgbClr val="A9640C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70001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5084064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· secrets vault · tracing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0" y="2011680"/>
            <a:ext cx="4279392" cy="3886200"/>
          </a:xfrm>
          <a:prstGeom prst="roundRect">
            <a:avLst>
              <a:gd name="adj" fmla="val 3294"/>
            </a:avLst>
          </a:prstGeom>
          <a:solidFill>
            <a:srgbClr val="FFFFFF">
              <a:alpha val="82000"/>
            </a:srgbClr>
          </a:solidFill>
          <a:ln w="19050">
            <a:solidFill>
              <a:srgbClr val="E24E28"/>
            </a:solidFill>
            <a:prstDash val="solid"/>
          </a:ln>
          <a:effectLst>
            <a:outerShdw sx="100000" sy="100000" kx="0" ky="0" algn="bl" rotWithShape="0" blurRad="165100" dist="63500" dir="5400000">
              <a:srgbClr val="33406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0" y="242316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E24E28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680960" y="324612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PII-safe · Grounded · Fraud-checked · Audited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680960" y="4343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decision, provable.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4E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github.com/KoynaKarmakar/openswarm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2026-07-18T10:53:21Z</dcterms:created>
  <dcterms:modified xsi:type="dcterms:W3CDTF">2026-07-18T10:53:21Z</dcterms:modified>
</cp:coreProperties>
</file>